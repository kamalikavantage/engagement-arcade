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3BFF"/>
            </a:gs>
            <a:gs pos="100000">
              <a:srgbClr val="7850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Employee Engagement Arcade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F5FA"/>
                </a:solidFill>
              </a:defRPr>
            </a:pPr>
            <a:r>
              <a:t>Extending Recognition Through Habit-Driven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More Reasons to Return. More Opportunities to Recognize.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5FA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The 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333333"/>
                </a:solidFill>
              </a:defRPr>
            </a:pPr>
            <a:r>
              <a:t>Recognition is valuable. Participation is harder.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Traditional recognition platforms are event-driven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Employees visit only when giving or receiving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Challenge: Creating recurring engagement habits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Opportunity: Increasing reasons to return to the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5F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The LinkedIn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333333"/>
                </a:solidFill>
              </a:defRPr>
            </a:pPr>
            <a:r>
              <a:t>Daily Habits Create Platform Loyalty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800">
                <a:solidFill>
                  <a:srgbClr val="333333"/>
                </a:solidFill>
              </a:defRPr>
            </a:pPr>
            <a:r>
              <a:t>LinkedIn succeeded by layering multiple engagement mechanisms on top of core networking:</a:t>
            </a:r>
            <a:br/>
            <a:br/>
            <a:r>
              <a:t>Professional Networking  +  Learning  +  Content  +  Daily Games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No Core</a:t>
            </a:r>
            <a:br/>
            <a:r>
              <a:t>Replacement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Strategic</a:t>
            </a:r>
            <a:br/>
            <a:r>
              <a:t>Layering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611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Additive</a:t>
            </a:r>
            <a:br/>
            <a:r>
              <a:t>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Strategic</a:t>
            </a:r>
            <a:br/>
            <a:r>
              <a:t>Layering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474720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611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Habit</a:t>
            </a:r>
            <a:br/>
            <a:r>
              <a:t>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Strategic</a:t>
            </a:r>
            <a:br/>
            <a:r>
              <a:t>Layering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3BFF"/>
                </a:solidFill>
              </a:defRPr>
            </a:pPr>
            <a:r>
              <a:t>Can recognition platforms create similar engagement habits?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5FA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The Employee Engagement Arcade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Spin Wheel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Daily chance to 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459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Recognition</a:t>
            </a:r>
            <a:br/>
            <a:r>
              <a:t>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Complete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Quiz Arena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Test knowledge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Scratch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Instant rewards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474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Lucky Draws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Prize pools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474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6118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3BFF"/>
                </a:solidFill>
              </a:defRPr>
            </a:pPr>
            <a:r>
              <a:t>Leaderboards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Social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Each module drives daily platform visits and recognition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5F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How Engagement Supports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463040" cy="91440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Visits</a:t>
            </a:r>
            <a:br/>
            <a:r>
              <a:t>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11680"/>
            <a:ext cx="1463040" cy="914400"/>
          </a:xfrm>
          <a:prstGeom prst="rect">
            <a:avLst/>
          </a:prstGeom>
          <a:solidFill>
            <a:srgbClr val="64C8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Completes</a:t>
            </a:r>
            <a:br/>
            <a:r>
              <a:t>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011680"/>
            <a:ext cx="1463040" cy="91440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Recognizes</a:t>
            </a:r>
            <a:br/>
            <a:r>
              <a:t>Colleague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011680"/>
            <a:ext cx="1463040" cy="914400"/>
          </a:xfrm>
          <a:prstGeom prst="rect">
            <a:avLst/>
          </a:prstGeom>
          <a:solidFill>
            <a:srgbClr val="64C8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Earns</a:t>
            </a:r>
            <a:br/>
            <a:r>
              <a:t>Rewards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1463040" cy="91440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Returns</a:t>
            </a:r>
            <a:br/>
            <a:r>
              <a:t>Tomorrow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3BFF"/>
                </a:solidFill>
              </a:defRPr>
            </a:pPr>
            <a:r>
              <a:t>Engagement Mechanics Drive Recognition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"The goal is not game participation.</a:t>
            </a:r>
            <a:br/>
            <a:br/>
            <a:r>
              <a:t>The goal is recognition participation."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F5FA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Potential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920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Platform</a:t>
            </a:r>
            <a:br/>
            <a:r>
              <a:t>Visits</a:t>
            </a:r>
          </a:p>
          <a:p>
            <a:pPr>
              <a:spcBef>
                <a:spcPts val="1000"/>
              </a:spcBef>
              <a:defRPr sz="2600" b="1">
                <a:solidFill>
                  <a:srgbClr val="6C3BFF"/>
                </a:solidFill>
              </a:defRPr>
            </a:pPr>
            <a:r>
              <a:t>↑ 40-60%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1920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Recognition</a:t>
            </a:r>
            <a:br/>
            <a:r>
              <a:t>Activity</a:t>
            </a:r>
          </a:p>
          <a:p>
            <a:pPr>
              <a:spcBef>
                <a:spcPts val="1000"/>
              </a:spcBef>
              <a:defRPr sz="2600" b="1">
                <a:solidFill>
                  <a:srgbClr val="6C3BFF"/>
                </a:solidFill>
              </a:defRPr>
            </a:pPr>
            <a:r>
              <a:t>↑ 35-50%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0"/>
            <a:ext cx="1920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Campaign</a:t>
            </a:r>
            <a:br/>
            <a:r>
              <a:t>Participation</a:t>
            </a:r>
          </a:p>
          <a:p>
            <a:pPr>
              <a:spcBef>
                <a:spcPts val="1000"/>
              </a:spcBef>
              <a:defRPr sz="2600" b="1">
                <a:solidFill>
                  <a:srgbClr val="6C3BFF"/>
                </a:solidFill>
              </a:defRPr>
            </a:pPr>
            <a:r>
              <a:t>↑ 45-65%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1920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Employee</a:t>
            </a:r>
            <a:br/>
            <a:r>
              <a:t>Experience</a:t>
            </a:r>
          </a:p>
          <a:p>
            <a:pPr>
              <a:spcBef>
                <a:spcPts val="1000"/>
              </a:spcBef>
              <a:defRPr sz="2600" b="1">
                <a:solidFill>
                  <a:srgbClr val="6C3BFF"/>
                </a:solidFill>
              </a:defRPr>
            </a:pPr>
            <a:r>
              <a:t>Elevated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Important: These projections are based on industry benchmarks and engagement theory. This concept requires validation through pilot testing. We do not claim guaranteed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5F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4572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C3BFF"/>
                </a:solidFill>
              </a:defRPr>
            </a:pPr>
            <a:r>
              <a:t>Differentiation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333333"/>
                </a:solidFill>
              </a:defRPr>
            </a:pPr>
            <a:r>
              <a:t>Recognition + Engagement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Traditional</a:t>
            </a:r>
            <a:br/>
            <a:r>
              <a:t>Recognition</a:t>
            </a:r>
            <a:br/>
            <a:r>
              <a:t>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73152" cy="1371600"/>
          </a:xfrm>
          <a:prstGeom prst="rect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3BFF"/>
                </a:solidFill>
              </a:defRPr>
            </a:pPr>
            <a:r>
              <a:t>Recognition +</a:t>
            </a:r>
            <a:br/>
            <a:r>
              <a:t>Engagement</a:t>
            </a:r>
            <a:br/>
            <a:r>
              <a:t>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Wellness Campaigns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66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Learning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Recognition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0643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DEI Initiatives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126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Culture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3BFF"/>
            </a:gs>
            <a:gs pos="100000">
              <a:srgbClr val="7850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Discussion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Is there genuine client demand for engagement mechanics?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Which customer segments would benefit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Could this measurably increase platform engagement?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Is this worth validating through a pilot program?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000" b="1">
                <a:solidFill>
                  <a:srgbClr val="FFFFFF"/>
                </a:solidFill>
              </a:defRPr>
            </a:pPr>
            <a:r>
              <a:t>"The objective is not to build games.</a:t>
            </a:r>
            <a:br/>
            <a:br/>
            <a:r>
              <a:t>The objective is to create more opportunities for recognition, participation, and culture-building."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